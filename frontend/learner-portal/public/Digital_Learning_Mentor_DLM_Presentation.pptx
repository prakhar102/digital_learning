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SLIDE 01 //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Digital Learning Mentor (DLM) — Core Problem &amp; End-to-End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Overcoming fragmented academic tools, high dropout rates, and ungrounded AI with an integrated enterprise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94960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150" b="1">
                <a:solidFill>
                  <a:srgbClr val="FB7185"/>
                </a:solidFill>
              </a:defRPr>
            </a:pPr>
            <a:r>
              <a:t>THE PROBLEM: WHY MODERN E-LEARNING FAILS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[!] Fragmented Learning Toolchain</a:t>
            </a:r>
          </a:p>
          <a:p>
            <a:pPr>
              <a:spcAft>
                <a:spcPts val="400"/>
              </a:spcAft>
              <a:defRPr sz="850">
                <a:solidFill>
                  <a:srgbClr val="9CA3AF"/>
                </a:solidFill>
              </a:defRPr>
            </a:pPr>
            <a:r>
              <a:t>Students juggle disconnected platforms: watching videos on Udemy/Coursera, taking quizzes on Google Forms, submitting assignments via Google Drive, and receiving certificates via email with zero unified context.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[!] The 85%+ Course Abandonment Rate</a:t>
            </a:r>
          </a:p>
          <a:p>
            <a:pPr>
              <a:spcAft>
                <a:spcPts val="400"/>
              </a:spcAft>
              <a:defRPr sz="850">
                <a:solidFill>
                  <a:srgbClr val="9CA3AF"/>
                </a:solidFill>
              </a:defRPr>
            </a:pPr>
            <a:r>
              <a:t>Static video lectures without real-time active guidance cause catastrophic dropouts. When learners encounter tricky technical bottlenecks or bugs, there is no instant expert help.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[!] Superficial Watching Without Accountability</a:t>
            </a:r>
          </a:p>
          <a:p>
            <a:pPr>
              <a:spcAft>
                <a:spcPts val="400"/>
              </a:spcAft>
              <a:defRPr sz="850">
                <a:solidFill>
                  <a:srgbClr val="9CA3AF"/>
                </a:solidFill>
              </a:defRPr>
            </a:pPr>
            <a:r>
              <a:t>Passive video consumption creates an illusion of competence. Traditional LMS platforms lack real-time skill verification, rigorous timed assessments, or diagnostic progress tracking.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[!] Ungrounded Generic AI &amp; Hallucinations</a:t>
            </a:r>
          </a:p>
          <a:p>
            <a:pPr>
              <a:spcAft>
                <a:spcPts val="400"/>
              </a:spcAft>
              <a:defRPr sz="850">
                <a:solidFill>
                  <a:srgbClr val="9CA3AF"/>
                </a:solidFill>
              </a:defRPr>
            </a:pPr>
            <a:r>
              <a:t>Standard AI chatbots (generic ChatGPT wrappers) lack institutional syllabus grounding, hallucinate fake concepts, and cannot inspect a student's actual grades, quiz attempts, or course records.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[!] Administrative Overload for Instructors</a:t>
            </a:r>
          </a:p>
          <a:p>
            <a:pPr>
              <a:spcAft>
                <a:spcPts val="400"/>
              </a:spcAft>
              <a:defRPr sz="850">
                <a:solidFill>
                  <a:srgbClr val="9CA3AF"/>
                </a:solidFill>
              </a:defRPr>
            </a:pPr>
            <a:r>
              <a:t>Educators spend dozens of manual hours grading assignments, creating quiz variations, and tracking cohorts across multiple disconnected spreadsheets.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394960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150" b="1">
                <a:solidFill>
                  <a:srgbClr val="34D399"/>
                </a:solidFill>
              </a:defRPr>
            </a:pPr>
            <a:r>
              <a:t>THE DLM SOLUTION: A UNIFIED LEARNING PLATFORM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[+] End-to-End Unified Student Journey</a:t>
            </a:r>
          </a:p>
          <a:p>
            <a:pPr>
              <a:spcAft>
                <a:spcPts val="400"/>
              </a:spcAft>
              <a:defRPr sz="850">
                <a:solidFill>
                  <a:srgbClr val="9CA3AF"/>
                </a:solidFill>
              </a:defRPr>
            </a:pPr>
            <a:r>
              <a:t>One integrated portal: Course Catalog Discovery -&gt; Interactive Module Learning Player -&gt; Timed Quizzes with Leaderboards -&gt; Hands-On Assignment Submissions -&gt; Verifiable Digital Certificates.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[+] Curriculum-Grounded Vector RAG Mentor</a:t>
            </a:r>
          </a:p>
          <a:p>
            <a:pPr>
              <a:spcAft>
                <a:spcPts val="400"/>
              </a:spcAft>
              <a:defRPr sz="850">
                <a:solidFill>
                  <a:srgbClr val="9CA3AF"/>
                </a:solidFill>
              </a:defRPr>
            </a:pPr>
            <a:r>
              <a:t>AI mentoring grounded strictly in actual institutional course descriptions and lesson syllabi. Generates precise, factual answers with source citations—eliminating hallucinations completely.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[+] Continuous Evaluation &amp; Timed Assessments</a:t>
            </a:r>
          </a:p>
          <a:p>
            <a:pPr>
              <a:spcAft>
                <a:spcPts val="400"/>
              </a:spcAft>
              <a:defRPr sz="850">
                <a:solidFill>
                  <a:srgbClr val="9CA3AF"/>
                </a:solidFill>
              </a:defRPr>
            </a:pPr>
            <a:r>
              <a:t>Built-in assessment engine featuring automated scoring, countdown timers, passing thresholds, question banks, and competitive gamified leaderboards.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[+] Autonomous Multi-Agent Collaboration Swarm</a:t>
            </a:r>
          </a:p>
          <a:p>
            <a:pPr>
              <a:spcAft>
                <a:spcPts val="400"/>
              </a:spcAft>
              <a:defRPr sz="850">
                <a:solidFill>
                  <a:srgbClr val="9CA3AF"/>
                </a:solidFill>
              </a:defRPr>
            </a:pPr>
            <a:r>
              <a:t>Six cooperating AI agents (RAG Mentor, Skill-Gap Analyst, Assessment Evaluator, Career Pathfinder, Socratic Debater, MCP Gateway) diagnosing learning gaps via an Agent Event Bus.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[+] Model Context Protocol (MCP) &amp; Instructor Hub</a:t>
            </a:r>
          </a:p>
          <a:p>
            <a:pPr>
              <a:spcAft>
                <a:spcPts val="400"/>
              </a:spcAft>
              <a:defRPr sz="850">
                <a:solidFill>
                  <a:srgbClr val="9CA3AF"/>
                </a:solidFill>
              </a:defRPr>
            </a:pPr>
            <a:r>
              <a:t>Standardized JSON-RPC 2.0 servers bridging microservice data safely into AI, paired with full Admin &amp; Instructor portals for course authoring and grading.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SLIDE 02 //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Enterprise Technology Stack &amp; Strategic Architectural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Carefully chosen for sub-second UI rendering, resilient microservice isolation, and open AI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542032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TIER 1: FRONTEND &amp; UI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00" b="1">
                <a:solidFill>
                  <a:srgbClr val="F8FAFC"/>
                </a:solidFill>
              </a:defRPr>
            </a:pPr>
            <a:r>
              <a:t>React 19 + Vite 8.3 + Tailwind v4</a:t>
            </a:r>
          </a:p>
          <a:p>
            <a:pPr>
              <a:spcAft>
                <a:spcPts val="400"/>
              </a:spcAft>
              <a:defRPr sz="850" b="1">
                <a:solidFill>
                  <a:srgbClr val="38BDF8"/>
                </a:solidFill>
              </a:defRPr>
            </a:pPr>
            <a:r>
              <a:t>WHY THIS STACK: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Sub-second Hot Module Replacement (HMR) and ultra-fast 1.8s production builds via Vite.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React 19 concurrent features provide seamless dashboard navigation without browser lag.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Tailwind CSS v4 delivers high-performance utility styling with zero runtime style overhead.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Lucide React iconography ensures sleek, professional, distraction-free educational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234440"/>
            <a:ext cx="2542032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TIER 2: BACKEND SERVICES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00" b="1">
                <a:solidFill>
                  <a:srgbClr val="F8FAFC"/>
                </a:solidFill>
              </a:defRPr>
            </a:pPr>
            <a:r>
              <a:t>Java 17 + Spring Boot 3/4 + JPA</a:t>
            </a:r>
          </a:p>
          <a:p>
            <a:pPr>
              <a:spcAft>
                <a:spcPts val="400"/>
              </a:spcAft>
              <a:defRPr sz="850" b="1">
                <a:solidFill>
                  <a:srgbClr val="38BDF8"/>
                </a:solidFill>
              </a:defRPr>
            </a:pPr>
            <a:r>
              <a:t>WHY THIS STACK: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10 decoupled, domain-driven microservices independently deployable and horizontally scalable.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Strong typing and thread-safe execution for high-concurrency quiz submissions and grading.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Spring Data JPA + MySQL/H2 ensures database-per-service isolation and ACID transactions.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Production actuators provide continuous health telemetry, metrics, and automated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234440"/>
            <a:ext cx="2542032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A78BFA"/>
                </a:solidFill>
              </a:defRPr>
            </a:pPr>
            <a:r>
              <a:t>TIER 3: GATEWAY &amp; MESH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00" b="1">
                <a:solidFill>
                  <a:srgbClr val="F8FAFC"/>
                </a:solidFill>
              </a:defRPr>
            </a:pPr>
            <a:r>
              <a:t>Spring Cloud Gateway + Eureka</a:t>
            </a:r>
          </a:p>
          <a:p>
            <a:pPr>
              <a:spcAft>
                <a:spcPts val="400"/>
              </a:spcAft>
              <a:defRPr sz="850" b="1">
                <a:solidFill>
                  <a:srgbClr val="38BDF8"/>
                </a:solidFill>
              </a:defRPr>
            </a:pPr>
            <a:r>
              <a:t>WHY THIS STACK: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Spring Cloud API Gateway acts as unified reverse proxy (port 8080) with SSL &amp; rate limiting.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Netflix Eureka dynamic service discovery eliminates brittle hardcoded host/port IP addresses.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Stateless JWT authorization filter enforces zero-trust token verification at the perimeter.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Spring Cloud Config Server centralizes externalized runtime configurations across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1234440"/>
            <a:ext cx="2542032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TIER 4: AI &amp; PROTOCOLS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00" b="1">
                <a:solidFill>
                  <a:srgbClr val="F8FAFC"/>
                </a:solidFill>
              </a:defRPr>
            </a:pPr>
            <a:r>
              <a:t>Gemini 3.8 Flash + MCP + Vector RAG</a:t>
            </a:r>
          </a:p>
          <a:p>
            <a:pPr>
              <a:spcAft>
                <a:spcPts val="400"/>
              </a:spcAft>
              <a:defRPr sz="850" b="1">
                <a:solidFill>
                  <a:srgbClr val="38BDF8"/>
                </a:solidFill>
              </a:defRPr>
            </a:pPr>
            <a:r>
              <a:t>WHY THIS STACK: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Google Gemini 3.8 Flash delivers industry-leading reasoning speed &amp; function calling fidelity.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Model Context Protocol (MCP v2024-11-05) standardizes JSON-RPC 2.0 tool execution over live APIs.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gemini-embedding-001 (3072 dimensions) powers hybrid semantic vector retrieval across course syllabi.</a:t>
            </a:r>
          </a:p>
          <a:p>
            <a:pPr>
              <a:spcAft>
                <a:spcPts val="500"/>
              </a:spcAft>
              <a:defRPr sz="800">
                <a:solidFill>
                  <a:srgbClr val="9CA3AF"/>
                </a:solidFill>
              </a:defRPr>
            </a:pPr>
            <a:r>
              <a:t>* Inter-agent Event Bus coordinates 6 autonomous agents without centralized bottlenecks.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SLIDE 03 //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Tier-1 Enterprise High-Level Architecture (Amazon / Flipkart Standard)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Production-grade distributed system: Edge Ingress &amp; Gateway -&gt; 10 Domain Microservices -&gt; Event Bus &amp; AI/MCP Mesh -&gt; Polyglot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84124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219456"/>
          </a:xfrm>
          <a:prstGeom prst="rect">
            <a:avLst/>
          </a:prstGeom>
          <a:solidFill>
            <a:srgbClr val="1822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38BDF8"/>
                </a:solidFill>
              </a:defRPr>
            </a:pPr>
            <a:r>
              <a:t>  1. CLIENT &amp; EDGE INGRESS TIER (REACT 19 SPA :5173 | GLOBAL CDN &amp; ALB INGRESS)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6464"/>
            <a:ext cx="2154326" cy="5669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8BDF8"/>
                </a:solidFill>
              </a:defRPr>
            </a:pPr>
            <a:r>
              <a:t>WEB &amp; MOBILE CLIENT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Learner Portal SPA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React 19 + Vite 8.3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Dashboard, Player, Exams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118" y="1426464"/>
            <a:ext cx="2154326" cy="5669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8BDF8"/>
                </a:solidFill>
              </a:defRPr>
            </a:pPr>
            <a:r>
              <a:t>ADMINISTRATION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Instructor &amp; Admin Studio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Course / Quiz Authoring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Cohort Grading &amp;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3596" y="1426464"/>
            <a:ext cx="2154326" cy="5669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8BDF8"/>
                </a:solidFill>
              </a:defRPr>
            </a:pPr>
            <a:r>
              <a:t>AI WORKSPACE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Agent Studio &amp; MCP Console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Multi-Agent Sandbox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JSON-RPC 2.0 Live Wire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1075" y="1426464"/>
            <a:ext cx="2154326" cy="5669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8BDF8"/>
                </a:solidFill>
              </a:defRPr>
            </a:pPr>
            <a:r>
              <a:t>GLOBAL EDGE INGRESS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CloudFront CDN &amp; WAF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Edge Video/Asset Cache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DDoS Shield &amp; SSL Offloading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58553" y="1426464"/>
            <a:ext cx="2154326" cy="5669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8BDF8"/>
                </a:solidFill>
              </a:defRPr>
            </a:pPr>
            <a:r>
              <a:t>LOAD BALANCER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AWS ALB / Ingress Controller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Port 443 / 8080 Routing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Layer 7 Traffic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84831"/>
            <a:ext cx="11064240" cy="84124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84831"/>
            <a:ext cx="11064240" cy="219456"/>
          </a:xfrm>
          <a:prstGeom prst="rect">
            <a:avLst/>
          </a:prstGeom>
          <a:solidFill>
            <a:srgbClr val="18223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A78BFA"/>
                </a:solidFill>
              </a:defRPr>
            </a:pPr>
            <a:r>
              <a:t>  2. API GATEWAY &amp; SERVICE MESH (SPRING CLOUD GATEWAY :8080 | EUREKA :8761 | CONFIG :8888)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22575"/>
            <a:ext cx="2154326" cy="5669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A78BFA"/>
                </a:solidFill>
              </a:defRPr>
            </a:pPr>
            <a:r>
              <a:t>EDGE REVERSE PROXY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Spring Cloud Gateway :8080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Dynamic Path-Based Routing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Unified CORS &amp; SSL Termination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6118" y="2322575"/>
            <a:ext cx="2154326" cy="5669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A78BFA"/>
                </a:solidFill>
              </a:defRPr>
            </a:pPr>
            <a:r>
              <a:t>IDENTITY PROVIDER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JWT Token Security Filter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Stateless Bearer Validation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Role-Based Access Control (RBAC)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3596" y="2322575"/>
            <a:ext cx="2154326" cy="5669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A78BFA"/>
                </a:solidFill>
              </a:defRPr>
            </a:pPr>
            <a:r>
              <a:t>SERVICE DISCOVERY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Netflix Eureka Registry :8761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Dynamic Microservice Heartbeats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Client-Side Ribbon Load Balancing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1075" y="2322575"/>
            <a:ext cx="2154326" cy="5669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A78BFA"/>
                </a:solidFill>
              </a:defRPr>
            </a:pPr>
            <a:r>
              <a:t>CONFIG REPOSITORY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Spring Cloud Config Server :8888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Centralized Git/Local Profiles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Dynamic Runtime Property Refresh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8553" y="2322575"/>
            <a:ext cx="2154326" cy="5669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A78BFA"/>
                </a:solidFill>
              </a:defRPr>
            </a:pPr>
            <a:r>
              <a:t>TRAFFIC SHAPING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Resilience4j &amp; Rate Limiter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Circuit Breakers &amp; Fallbacks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Sliding Window Request Throttling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80944"/>
            <a:ext cx="11064240" cy="93268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80944"/>
            <a:ext cx="11064240" cy="219456"/>
          </a:xfrm>
          <a:prstGeom prst="rect">
            <a:avLst/>
          </a:prstGeom>
          <a:solidFill>
            <a:srgbClr val="18223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34D399"/>
                </a:solidFill>
              </a:defRPr>
            </a:pPr>
            <a:r>
              <a:t>  3. CORE DOMAIN MICROSERVICES CLUSTER (SPRING BOOT 3/4 ON JAVA 17 - DDD BOUNDED CONTEXTS)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18688"/>
            <a:ext cx="1517904" cy="65836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4D399"/>
                </a:solidFill>
              </a:defRPr>
            </a:pPr>
            <a:r>
              <a:t>PORT :8081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Identity Service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Auth, JWT Tokens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BCrypt User Credentials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9696" y="3218688"/>
            <a:ext cx="1517904" cy="65836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4D399"/>
                </a:solidFill>
              </a:defRPr>
            </a:pPr>
            <a:r>
              <a:t>PORT :8082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Catalog Service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Courses &amp; Modules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Hierarchical Syllabi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30752" y="3218688"/>
            <a:ext cx="1517904" cy="65836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4D399"/>
                </a:solidFill>
              </a:defRPr>
            </a:pPr>
            <a:r>
              <a:t>PORT :8083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Progress Service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Lesson-by-Lesson State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Real-Time Completion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21807" y="3218688"/>
            <a:ext cx="1517904" cy="65836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4D399"/>
                </a:solidFill>
              </a:defRPr>
            </a:pPr>
            <a:r>
              <a:t>PORT :8084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Assessment Service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Timed Quizzes, Rubrics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Automated Exam Scoring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2864" y="3218688"/>
            <a:ext cx="1517904" cy="65836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4D399"/>
                </a:solidFill>
              </a:defRPr>
            </a:pPr>
            <a:r>
              <a:t>PORT :8085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Certification Service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Digital Credentials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Cryptographic Verification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19" y="3218688"/>
            <a:ext cx="1517904" cy="65836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4D399"/>
                </a:solidFill>
              </a:defRPr>
            </a:pPr>
            <a:r>
              <a:t>PORT :8086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Assignment Service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Student File Uploads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Instructor Rubric Grading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94976" y="3218688"/>
            <a:ext cx="1517904" cy="65836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34D399"/>
                </a:solidFill>
              </a:defRPr>
            </a:pPr>
            <a:r>
              <a:t>PORT :8087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Notification Service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Milestone Alerts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Gamification Badges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68496"/>
            <a:ext cx="11064240" cy="1051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68496"/>
            <a:ext cx="11064240" cy="219456"/>
          </a:xfrm>
          <a:prstGeom prst="rect">
            <a:avLst/>
          </a:prstGeom>
          <a:solidFill>
            <a:srgbClr val="18223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BBF24"/>
                </a:solidFill>
              </a:defRPr>
            </a:pPr>
            <a:r>
              <a:t>  4. ASYNCHRONOUS EVENT BROKER &amp; MODEL CONTEXT PROTOCOL (MCP V2024-11-05 + GEMINI 3.8 FLASH)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1517904" cy="777240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BF24"/>
                </a:solidFill>
              </a:defRPr>
            </a:pPr>
            <a:r>
              <a:t>EVENT BROKER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Async Event Bus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Topics: quiz.submitted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course.completed, cert.issued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39696" y="4206240"/>
            <a:ext cx="1517904" cy="777240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BF24"/>
                </a:solidFill>
              </a:defRPr>
            </a:pPr>
            <a:r>
              <a:t>MCP SERVER 1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LMS Catalog MCP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mcp://dlm.lms/catalog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Tools: list_courses, syllabus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30752" y="4206240"/>
            <a:ext cx="1517904" cy="777240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BF24"/>
                </a:solidFill>
              </a:defRPr>
            </a:pPr>
            <a:r>
              <a:t>MCP SERVER 2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Learner Analytics MCP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mcp://dlm.lms/analytics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Tools: progress, gradebook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21807" y="4206240"/>
            <a:ext cx="1517904" cy="777240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BF24"/>
                </a:solidFill>
              </a:defRPr>
            </a:pPr>
            <a:r>
              <a:t>MCP SERVER 3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Assessment Engine MCP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mcp://dlm.lms/assessment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Tools: list_quiz, practice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12864" y="4206240"/>
            <a:ext cx="1517904" cy="777240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BF24"/>
                </a:solidFill>
              </a:defRPr>
            </a:pPr>
            <a:r>
              <a:t>MCP SERVER 4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Knowledge RAG MCP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mcp://dlm.lms/knowledge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Tools: vector_search, citations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19" y="4206240"/>
            <a:ext cx="1517904" cy="777240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BF24"/>
                </a:solidFill>
              </a:defRPr>
            </a:pPr>
            <a:r>
              <a:t>MULTI-AGENT SWARM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Agent Event Bus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6 Cooperating Agents: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RAG, SkillGap, Socratic, Career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94976" y="4206240"/>
            <a:ext cx="1517904" cy="777240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BF24"/>
                </a:solidFill>
              </a:defRPr>
            </a:pPr>
            <a:r>
              <a:t>LLM INFERENCE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Google Gemini 3.8 Flash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Function Calling Protocol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gemini-embedding-001 (3072d)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074920"/>
            <a:ext cx="11064240" cy="129844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074920"/>
            <a:ext cx="11064240" cy="219456"/>
          </a:xfrm>
          <a:prstGeom prst="rect">
            <a:avLst/>
          </a:prstGeom>
          <a:solidFill>
            <a:srgbClr val="182238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B7185"/>
                </a:solidFill>
              </a:defRPr>
            </a:pPr>
            <a:r>
              <a:t>  5. POLYGLOT PERSISTENCE &amp; DISTRIBUTED STORAGE TIER (DATABASE-PER-SERVICE + VECTOR STORE + CACHE)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312664"/>
            <a:ext cx="1319022" cy="10241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7185"/>
                </a:solidFill>
              </a:defRPr>
            </a:pPr>
            <a:r>
              <a:t>RELATIONAL DB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MySQL: identity_db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Users &amp; Passwords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ACID Isolation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40814" y="5312664"/>
            <a:ext cx="1319022" cy="10241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7185"/>
                </a:solidFill>
              </a:defRPr>
            </a:pPr>
            <a:r>
              <a:t>RELATIONAL DB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MySQL: catalog_db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Courses &amp; Lessons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Syllabus Hierarchy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2988" y="5312664"/>
            <a:ext cx="1319022" cy="10241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7185"/>
                </a:solidFill>
              </a:defRPr>
            </a:pPr>
            <a:r>
              <a:t>RELATIONAL DB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MySQL: progress_db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Completion State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Progress History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25162" y="5312664"/>
            <a:ext cx="1319022" cy="10241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7185"/>
                </a:solidFill>
              </a:defRPr>
            </a:pPr>
            <a:r>
              <a:t>RELATIONAL DB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MySQL: assess_db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Question Banks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Student Attempts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17336" y="5312664"/>
            <a:ext cx="1319022" cy="10241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7185"/>
                </a:solidFill>
              </a:defRPr>
            </a:pPr>
            <a:r>
              <a:t>RELATIONAL DB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MySQL: cert_db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Digital Badges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Verification Hashes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09510" y="5312664"/>
            <a:ext cx="1319022" cy="10241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7185"/>
                </a:solidFill>
              </a:defRPr>
            </a:pPr>
            <a:r>
              <a:t>RELATIONAL DB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MySQL: assign_db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Submissions Meta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Rubric Scores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01684" y="5312664"/>
            <a:ext cx="1319022" cy="10241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7185"/>
                </a:solidFill>
              </a:defRPr>
            </a:pPr>
            <a:r>
              <a:t>VECTOR DATABASE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Vector Store (3072d)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Syllabi Embeddings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Cosine Similarity Index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93857" y="5312664"/>
            <a:ext cx="1319022" cy="1024128"/>
          </a:xfrm>
          <a:prstGeom prst="roundRect">
            <a:avLst/>
          </a:prstGeom>
          <a:solidFill>
            <a:srgbClr val="182238"/>
          </a:solidFill>
          <a:ln w="101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650" b="1">
                <a:solidFill>
                  <a:srgbClr val="FB7185"/>
                </a:solidFill>
              </a:defRPr>
            </a:pPr>
            <a:r>
              <a:t>DISTRIBUTED CACHE</a:t>
            </a:r>
          </a:p>
          <a:p>
            <a:pPr algn="ctr">
              <a:spcBef>
                <a:spcPts val="100"/>
              </a:spcBef>
              <a:defRPr sz="750" b="1">
                <a:solidFill>
                  <a:srgbClr val="F8FAFC"/>
                </a:solidFill>
              </a:defRPr>
            </a:pPr>
            <a:r>
              <a:t>In-Memory Cache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User Session Store</a:t>
            </a:r>
          </a:p>
          <a:p>
            <a:pPr algn="ctr">
              <a:spcBef>
                <a:spcPts val="100"/>
              </a:spcBef>
              <a:defRPr sz="600">
                <a:solidFill>
                  <a:srgbClr val="9CA3AF"/>
                </a:solidFill>
              </a:defRPr>
            </a:pPr>
            <a:r>
              <a:t>Live Leaderboards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